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8D6B7-BF29-4B9A-A653-710911ADC9D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6C809-CA00-4FFC-958D-AD7FC2DAE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5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6C809-CA00-4FFC-958D-AD7FC2DAE08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22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0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1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50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2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5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77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07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09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914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771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811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3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46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5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5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AD2091D-1372-420C-BD5E-9139B66775B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61863F8-9FC8-43E5-8860-CC46912AB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5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5" r:id="rId15"/>
    <p:sldLayoutId id="2147483996" r:id="rId16"/>
    <p:sldLayoutId id="214748399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7209-4EAE-D5D8-5535-662653C27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Crop Yield Prediction — Smart Agriculture using data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6CE14-1A3F-A9AD-81D7-F03E93C4F3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 </a:t>
            </a:r>
            <a:r>
              <a:rPr lang="en-US" b="1" dirty="0"/>
              <a:t>Suraj S. – 20231BCD0033</a:t>
            </a:r>
          </a:p>
          <a:p>
            <a:r>
              <a:rPr lang="en-US" b="1" dirty="0"/>
              <a:t> N. Charan – 20231BCD0021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37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24E6D0-DD75-649A-0663-BE4910BD06CA}"/>
              </a:ext>
            </a:extLst>
          </p:cNvPr>
          <p:cNvSpPr txBox="1"/>
          <p:nvPr/>
        </p:nvSpPr>
        <p:spPr>
          <a:xfrm>
            <a:off x="516835" y="1997839"/>
            <a:ext cx="86296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Problem Definition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Agriculture productivity depends on factors such as soil, rainfall, and crop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Farmers often rely on intuition for yield estimation, leading to uncertainty.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goal is to build a </a:t>
            </a:r>
            <a:r>
              <a:rPr lang="en-US" b="1" dirty="0"/>
              <a:t>machine learning model</a:t>
            </a:r>
            <a:r>
              <a:rPr lang="en-US" dirty="0"/>
              <a:t> to predict crop yield based on production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</a:t>
            </a:r>
            <a:r>
              <a:rPr lang="en-US" b="1" dirty="0"/>
              <a:t>farmers, policymakers, and </a:t>
            </a:r>
            <a:r>
              <a:rPr lang="en-US" b="1" dirty="0" err="1"/>
              <a:t>agri</a:t>
            </a:r>
            <a:r>
              <a:rPr lang="en-US" b="1" dirty="0"/>
              <a:t> tech firms</a:t>
            </a:r>
            <a:r>
              <a:rPr lang="en-US" dirty="0"/>
              <a:t>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122875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ADB6EE-2FC6-C900-7C74-24603EF399B3}"/>
              </a:ext>
            </a:extLst>
          </p:cNvPr>
          <p:cNvSpPr txBox="1"/>
          <p:nvPr/>
        </p:nvSpPr>
        <p:spPr>
          <a:xfrm>
            <a:off x="496957" y="1411357"/>
            <a:ext cx="86495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Title:</a:t>
            </a:r>
            <a:r>
              <a:rPr lang="en-IN" dirty="0"/>
              <a:t> Data Description</a:t>
            </a: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Source:</a:t>
            </a:r>
            <a:r>
              <a:rPr lang="en-IN" dirty="0"/>
              <a:t> Kaggle – </a:t>
            </a:r>
            <a:r>
              <a:rPr lang="en-IN" i="1" dirty="0"/>
              <a:t>Crop Production in India Dataset</a:t>
            </a:r>
            <a:r>
              <a:rPr lang="en-IN" dirty="0"/>
              <a:t> by Abhinand05.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Total Records:</a:t>
            </a:r>
            <a:r>
              <a:rPr lang="en-IN" dirty="0"/>
              <a:t> ~2,46,000 rows, </a:t>
            </a:r>
            <a:r>
              <a:rPr lang="en-IN" b="1" dirty="0"/>
              <a:t>7 columns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Key Variables:</a:t>
            </a:r>
            <a:r>
              <a:rPr lang="en-IN" dirty="0"/>
              <a:t> State, District, Year, Season, Crop, Area, Production, Yield.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Limitations:</a:t>
            </a:r>
            <a:r>
              <a:rPr lang="en-IN" dirty="0"/>
              <a:t> Missing soil/weather data; district-level aggregation.</a:t>
            </a:r>
          </a:p>
        </p:txBody>
      </p:sp>
    </p:spTree>
    <p:extLst>
      <p:ext uri="{BB962C8B-B14F-4D97-AF65-F5344CB8AC3E}">
        <p14:creationId xmlns:p14="http://schemas.microsoft.com/office/powerpoint/2010/main" val="229389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FD42F-C289-F1A5-D326-45BA1445405A}"/>
              </a:ext>
            </a:extLst>
          </p:cNvPr>
          <p:cNvSpPr txBox="1"/>
          <p:nvPr/>
        </p:nvSpPr>
        <p:spPr>
          <a:xfrm>
            <a:off x="1517073" y="2015836"/>
            <a:ext cx="76243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Data Cleaning and Preprocessing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missing and duplicate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target variable: </a:t>
            </a:r>
            <a:r>
              <a:rPr lang="en-US" b="1" dirty="0"/>
              <a:t>Yield = Production / Area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Detected and removed outliers using </a:t>
            </a:r>
            <a:r>
              <a:rPr lang="en-US" b="1" dirty="0"/>
              <a:t>IQR method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Encoded categorical variables (State, Season, Crop).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Scaled numeric features with </a:t>
            </a:r>
            <a:r>
              <a:rPr lang="en-US" b="1" dirty="0"/>
              <a:t>Standard Scaler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871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974C15-AFC4-156F-7659-0486611695C8}"/>
              </a:ext>
            </a:extLst>
          </p:cNvPr>
          <p:cNvSpPr txBox="1"/>
          <p:nvPr/>
        </p:nvSpPr>
        <p:spPr>
          <a:xfrm>
            <a:off x="506896" y="1033671"/>
            <a:ext cx="86395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Data Analysis and Visualization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histograms</a:t>
            </a:r>
            <a:r>
              <a:rPr lang="en-US" dirty="0"/>
              <a:t> and </a:t>
            </a:r>
            <a:r>
              <a:rPr lang="en-US" b="1" dirty="0"/>
              <a:t>boxplots</a:t>
            </a:r>
            <a:r>
              <a:rPr lang="en-US" dirty="0"/>
              <a:t> to visualize yield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Heatmap</a:t>
            </a:r>
            <a:r>
              <a:rPr lang="en-US" dirty="0"/>
              <a:t> showed strong correlation between Area and Production.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Rabi and Whole Year crops</a:t>
            </a:r>
            <a:r>
              <a:rPr lang="en-US" dirty="0"/>
              <a:t> had higher and more consistent yields.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yielding crops:</a:t>
            </a:r>
            <a:r>
              <a:rPr lang="en-US" dirty="0"/>
              <a:t> Sugarcane, Potato, Wheat.</a:t>
            </a:r>
          </a:p>
        </p:txBody>
      </p:sp>
      <p:pic>
        <p:nvPicPr>
          <p:cNvPr id="5" name="Picture 4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447061D0-7F8C-36F4-0C53-686C50CBB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57" y="3429000"/>
            <a:ext cx="964064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1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0FC059-8908-8453-F288-7A22B1D98202}"/>
              </a:ext>
            </a:extLst>
          </p:cNvPr>
          <p:cNvSpPr txBox="1"/>
          <p:nvPr/>
        </p:nvSpPr>
        <p:spPr>
          <a:xfrm>
            <a:off x="1401416" y="1222513"/>
            <a:ext cx="7745067" cy="1784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Title:</a:t>
            </a:r>
            <a:r>
              <a:rPr lang="en-IN" dirty="0"/>
              <a:t> Model Implementation</a:t>
            </a: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Models used: </a:t>
            </a:r>
            <a:r>
              <a:rPr lang="en-IN" b="1" dirty="0"/>
              <a:t>Linear Regression</a:t>
            </a:r>
            <a:r>
              <a:rPr lang="en-IN" dirty="0"/>
              <a:t>, </a:t>
            </a:r>
            <a:r>
              <a:rPr lang="en-IN" b="1" dirty="0"/>
              <a:t>Random Forest</a:t>
            </a:r>
            <a:r>
              <a:rPr lang="en-IN" dirty="0"/>
              <a:t>, and </a:t>
            </a:r>
            <a:r>
              <a:rPr lang="en-IN" b="1" dirty="0" err="1"/>
              <a:t>XGBoost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XG Boost</a:t>
            </a:r>
            <a:r>
              <a:rPr lang="en-IN" dirty="0"/>
              <a:t> achieved the best results with </a:t>
            </a:r>
            <a:r>
              <a:rPr lang="en-IN" b="1" dirty="0"/>
              <a:t>R² = 0.91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Evaluation metrics: </a:t>
            </a:r>
            <a:r>
              <a:rPr lang="en-IN" b="1" dirty="0"/>
              <a:t>RMSE, MAE, and R² Score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Tools: </a:t>
            </a:r>
            <a:r>
              <a:rPr lang="en-IN" b="1" dirty="0"/>
              <a:t>Python, Pandas, NumPy, Scikit-learn, Matplotlib, Seaborn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5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15D19C-577A-5941-E459-1668CF584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57" y="208956"/>
            <a:ext cx="5732145" cy="266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1C72FD-6FD8-394F-5B13-848BC6768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557" y="298174"/>
            <a:ext cx="4104386" cy="425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C06D58-34AD-3FDD-668B-3153A6DAC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6" y="3102610"/>
            <a:ext cx="5251754" cy="3440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751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188BB-69A2-67E6-A7BB-0FCFCAE61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4" y="134936"/>
            <a:ext cx="5732145" cy="310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EDCDCE-E3B8-A5F9-78F5-124A0E775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646" y="48894"/>
            <a:ext cx="5732145" cy="327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9E2EEB-0D00-83DE-162B-58C46D614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4" y="3620455"/>
            <a:ext cx="5732145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4CA8ED-E2AA-298D-5559-C17247082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646" y="3876648"/>
            <a:ext cx="5732145" cy="1907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858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58D0A3-D459-89D3-3753-2D6E28FF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9" y="179815"/>
            <a:ext cx="5732145" cy="351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B0715D-2BA1-1DE1-3971-A68276829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005" y="229345"/>
            <a:ext cx="573214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7047E1-A3DD-5D0C-39C4-F6292ED05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60" y="4384067"/>
            <a:ext cx="5732145" cy="214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79CA9D-AFE0-819B-9340-EE1964608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4922"/>
            <a:ext cx="5732145" cy="2533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366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25AE47-2D63-3172-634F-AE6F80623989}"/>
              </a:ext>
            </a:extLst>
          </p:cNvPr>
          <p:cNvSpPr txBox="1"/>
          <p:nvPr/>
        </p:nvSpPr>
        <p:spPr>
          <a:xfrm>
            <a:off x="765313" y="1480930"/>
            <a:ext cx="91936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endParaRPr lang="en-IN" b="1" dirty="0"/>
          </a:p>
          <a:p>
            <a:pPr algn="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Title:</a:t>
            </a:r>
            <a:r>
              <a:rPr lang="en-IN" dirty="0"/>
              <a:t> Model Implementation</a:t>
            </a:r>
            <a:br>
              <a:rPr lang="en-IN" dirty="0"/>
            </a:br>
            <a:r>
              <a:rPr lang="en-IN" b="1" dirty="0"/>
              <a:t>Content:</a:t>
            </a:r>
          </a:p>
          <a:p>
            <a:pPr>
              <a:buNone/>
            </a:pPr>
            <a:r>
              <a:rPr lang="en-IN" dirty="0"/>
              <a:t>Models used: </a:t>
            </a:r>
            <a:r>
              <a:rPr lang="en-IN" b="1" dirty="0"/>
              <a:t>Linear Regression</a:t>
            </a:r>
            <a:r>
              <a:rPr lang="en-IN" dirty="0"/>
              <a:t>, </a:t>
            </a:r>
            <a:r>
              <a:rPr lang="en-IN" b="1" dirty="0"/>
              <a:t>Random Forest</a:t>
            </a:r>
            <a:r>
              <a:rPr lang="en-IN" dirty="0"/>
              <a:t>, and </a:t>
            </a:r>
            <a:r>
              <a:rPr lang="en-IN" b="1" dirty="0" err="1"/>
              <a:t>XGBoost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XG Boost</a:t>
            </a:r>
            <a:r>
              <a:rPr lang="en-IN" dirty="0"/>
              <a:t> achieved the best results with </a:t>
            </a:r>
            <a:r>
              <a:rPr lang="en-IN" b="1" dirty="0"/>
              <a:t>R² = 0.91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Evaluation metrics: </a:t>
            </a:r>
            <a:r>
              <a:rPr lang="en-IN" b="1" dirty="0"/>
              <a:t>RMSE, MAE, and R² Score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Tools: </a:t>
            </a:r>
            <a:r>
              <a:rPr lang="en-IN" b="1" dirty="0"/>
              <a:t>Python, Pandas, NumPy, Scikit-learn, Matplotlib, Seaborn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85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6A2A3-BB08-F362-070F-6807A8569BF7}"/>
              </a:ext>
            </a:extLst>
          </p:cNvPr>
          <p:cNvSpPr txBox="1"/>
          <p:nvPr/>
        </p:nvSpPr>
        <p:spPr>
          <a:xfrm>
            <a:off x="822462" y="2384169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Results and Discussion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en-US" dirty="0"/>
              <a:t> performed best: R² = 0.91, RMSE = 0.18.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predictors: </a:t>
            </a:r>
            <a:r>
              <a:rPr lang="en-US" b="1" dirty="0"/>
              <a:t>Crop Type</a:t>
            </a:r>
            <a:r>
              <a:rPr lang="en-US" dirty="0"/>
              <a:t>, </a:t>
            </a:r>
            <a:r>
              <a:rPr lang="en-US" b="1" dirty="0"/>
              <a:t>Season</a:t>
            </a:r>
            <a:r>
              <a:rPr lang="en-US" dirty="0"/>
              <a:t>, and </a:t>
            </a:r>
            <a:r>
              <a:rPr lang="en-US" b="1" dirty="0"/>
              <a:t>State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Rabi crops</a:t>
            </a:r>
            <a:r>
              <a:rPr lang="en-US" dirty="0"/>
              <a:t> were more stable; </a:t>
            </a:r>
            <a:r>
              <a:rPr lang="en-US" b="1" dirty="0"/>
              <a:t>Kharif crops</a:t>
            </a:r>
            <a:r>
              <a:rPr lang="en-US" dirty="0"/>
              <a:t> fluctuated due to rainfall.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Confirms that </a:t>
            </a:r>
            <a:r>
              <a:rPr lang="en-US" b="1" dirty="0"/>
              <a:t>data analytics</a:t>
            </a:r>
            <a:r>
              <a:rPr lang="en-US" dirty="0"/>
              <a:t> plays a key role in agricultural forecasting.</a:t>
            </a:r>
          </a:p>
        </p:txBody>
      </p:sp>
    </p:spTree>
    <p:extLst>
      <p:ext uri="{BB962C8B-B14F-4D97-AF65-F5344CB8AC3E}">
        <p14:creationId xmlns:p14="http://schemas.microsoft.com/office/powerpoint/2010/main" val="162751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D5F81D-71A7-B287-8D15-47672BDDCB39}"/>
              </a:ext>
            </a:extLst>
          </p:cNvPr>
          <p:cNvSpPr txBox="1"/>
          <p:nvPr/>
        </p:nvSpPr>
        <p:spPr>
          <a:xfrm>
            <a:off x="3048828" y="1859340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Insights and Conclusion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analytics enables accurate, data-driven yield forecasting.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Agriculture can become more </a:t>
            </a:r>
            <a:r>
              <a:rPr lang="en-US" b="1" dirty="0"/>
              <a:t>sustainable</a:t>
            </a:r>
            <a:r>
              <a:rPr lang="en-US" dirty="0"/>
              <a:t> through AI-driven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Limitations:</a:t>
            </a:r>
            <a:r>
              <a:rPr lang="en-US" dirty="0"/>
              <a:t> Missing soil and weather data; static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Work:</a:t>
            </a:r>
            <a:r>
              <a:rPr lang="en-US" dirty="0"/>
              <a:t> Integrate NDVI, rainfall data, and deep learning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Conclusion:</a:t>
            </a:r>
            <a:r>
              <a:rPr lang="en-US" dirty="0"/>
              <a:t> Promotes </a:t>
            </a:r>
            <a:r>
              <a:rPr lang="en-US" b="1" dirty="0"/>
              <a:t>data-driven smart farming</a:t>
            </a:r>
            <a:r>
              <a:rPr lang="en-US" dirty="0"/>
              <a:t> and </a:t>
            </a:r>
            <a:r>
              <a:rPr lang="en-US" b="1" dirty="0"/>
              <a:t>food security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323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AE057D-F0E3-2E09-7998-FA22A652F57A}"/>
              </a:ext>
            </a:extLst>
          </p:cNvPr>
          <p:cNvSpPr txBox="1"/>
          <p:nvPr/>
        </p:nvSpPr>
        <p:spPr>
          <a:xfrm>
            <a:off x="1480930" y="1649896"/>
            <a:ext cx="7665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Team Contribution Distribution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>
              <a:buNone/>
            </a:pPr>
            <a:r>
              <a:rPr lang="en-US" b="1" dirty="0"/>
              <a:t>Member 1: Suraj S. – 60%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collection, cleaning, feature engineering, and model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evaluation, visualization, and optimization.</a:t>
            </a:r>
          </a:p>
          <a:p>
            <a:pPr>
              <a:buNone/>
            </a:pPr>
            <a:r>
              <a:rPr lang="en-US" b="1" dirty="0"/>
              <a:t>Member 2: N. Charan – 40%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Exploratory data analysis, report writing, and documentation.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visuals, presentation slides, and compiled final report.</a:t>
            </a:r>
          </a:p>
        </p:txBody>
      </p:sp>
    </p:spTree>
    <p:extLst>
      <p:ext uri="{BB962C8B-B14F-4D97-AF65-F5344CB8AC3E}">
        <p14:creationId xmlns:p14="http://schemas.microsoft.com/office/powerpoint/2010/main" val="958245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B5C61E-B339-E40A-8635-8F79833711FA}"/>
              </a:ext>
            </a:extLst>
          </p:cNvPr>
          <p:cNvSpPr txBox="1"/>
          <p:nvPr/>
        </p:nvSpPr>
        <p:spPr>
          <a:xfrm>
            <a:off x="944217" y="1719470"/>
            <a:ext cx="82022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Title:</a:t>
            </a:r>
            <a:r>
              <a:rPr lang="en-IN" dirty="0"/>
              <a:t> References</a:t>
            </a: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Abhinand05, “Crop Production in India Dataset,” </a:t>
            </a:r>
            <a:r>
              <a:rPr lang="en-IN" i="1" dirty="0"/>
              <a:t>Kaggle</a:t>
            </a:r>
            <a:r>
              <a:rPr lang="en-IN" dirty="0"/>
              <a:t>, 2023.</a:t>
            </a:r>
          </a:p>
          <a:p>
            <a:pPr>
              <a:buFont typeface="+mj-lt"/>
              <a:buAutoNum type="arabicPeriod"/>
            </a:pPr>
            <a:r>
              <a:rPr lang="en-IN" dirty="0"/>
              <a:t>T. Chen &amp; C. </a:t>
            </a:r>
            <a:r>
              <a:rPr lang="en-IN" dirty="0" err="1"/>
              <a:t>Guestrin</a:t>
            </a:r>
            <a:r>
              <a:rPr lang="en-IN" dirty="0"/>
              <a:t> , “XG Boost: A Scalable Tree Boosting System,” </a:t>
            </a:r>
            <a:r>
              <a:rPr lang="en-IN" i="1" dirty="0"/>
              <a:t>KDD</a:t>
            </a:r>
            <a:r>
              <a:rPr lang="en-IN" dirty="0"/>
              <a:t>, 2016.</a:t>
            </a:r>
          </a:p>
          <a:p>
            <a:pPr>
              <a:buFont typeface="+mj-lt"/>
              <a:buAutoNum type="arabicPeriod"/>
            </a:pPr>
            <a:r>
              <a:rPr lang="en-IN" dirty="0"/>
              <a:t>J. Han et al., </a:t>
            </a:r>
            <a:r>
              <a:rPr lang="en-IN" i="1" dirty="0"/>
              <a:t>Data Mining: Concepts and Techniques</a:t>
            </a:r>
            <a:r>
              <a:rPr lang="en-IN" dirty="0"/>
              <a:t>, Morgan Kaufmann, 2021.</a:t>
            </a:r>
          </a:p>
          <a:p>
            <a:pPr>
              <a:buFont typeface="+mj-lt"/>
              <a:buAutoNum type="arabicPeriod"/>
            </a:pPr>
            <a:r>
              <a:rPr lang="en-IN" dirty="0"/>
              <a:t>Ministry of Agriculture, </a:t>
            </a:r>
            <a:r>
              <a:rPr lang="en-IN" i="1" dirty="0"/>
              <a:t>Agricultural Statistics at a Glance</a:t>
            </a:r>
            <a:r>
              <a:rPr lang="en-IN" dirty="0"/>
              <a:t>, Govt. of India, 2022.</a:t>
            </a:r>
          </a:p>
          <a:p>
            <a:pPr>
              <a:buFont typeface="+mj-lt"/>
              <a:buAutoNum type="arabicPeriod"/>
            </a:pPr>
            <a:r>
              <a:rPr lang="en-IN" dirty="0"/>
              <a:t>FAO, “FAOSTAT: Crop Production Data,” United Nations, 2022.</a:t>
            </a:r>
          </a:p>
        </p:txBody>
      </p:sp>
    </p:spTree>
    <p:extLst>
      <p:ext uri="{BB962C8B-B14F-4D97-AF65-F5344CB8AC3E}">
        <p14:creationId xmlns:p14="http://schemas.microsoft.com/office/powerpoint/2010/main" val="79714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post-it note with a blue push pin&#10;&#10;AI-generated content may be incorrect.">
            <a:extLst>
              <a:ext uri="{FF2B5EF4-FFF2-40B4-BE49-F238E27FC236}">
                <a16:creationId xmlns:a16="http://schemas.microsoft.com/office/drawing/2014/main" id="{DCEF8A8D-4E07-3D36-C100-9983F30EF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286" y="1361786"/>
            <a:ext cx="5039428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473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33</TotalTime>
  <Words>634</Words>
  <Application>Microsoft Office PowerPoint</Application>
  <PresentationFormat>Widescreen</PresentationFormat>
  <Paragraphs>62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Tw Cen MT</vt:lpstr>
      <vt:lpstr>Droplet</vt:lpstr>
      <vt:lpstr>Title: Crop Yield Prediction — Smart Agriculture using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S</dc:creator>
  <cp:lastModifiedBy>Suraj S</cp:lastModifiedBy>
  <cp:revision>1</cp:revision>
  <dcterms:created xsi:type="dcterms:W3CDTF">2025-11-09T04:17:42Z</dcterms:created>
  <dcterms:modified xsi:type="dcterms:W3CDTF">2025-11-09T04:51:02Z</dcterms:modified>
</cp:coreProperties>
</file>